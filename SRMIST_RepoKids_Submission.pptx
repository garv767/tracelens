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jjMSzCkWPT8mQ1thTkN+SNhqT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2" name="Google Shape;16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shreya-roy1/TraceLens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50" y="3310125"/>
            <a:ext cx="6369000" cy="29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Theme 01: Agentic Code Intelligence</a:t>
            </a:r>
            <a:r>
              <a:rPr lang="en-US" sz="1100">
                <a:solidFill>
                  <a:schemeClr val="dk1"/>
                </a:solidFill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RepoKi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SRM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KTR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- Garv Rahut (garvrahut@gmail.com)</a:t>
            </a:r>
            <a:r>
              <a:rPr lang="en-US" sz="1100"/>
              <a:t> </a:t>
            </a:r>
            <a:endParaRPr sz="160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Abhinandan (abhinandanx538@gmail.com)</a:t>
            </a:r>
            <a:endParaRPr sz="160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Shreya Roy (shreya.roy1818@gmail.com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</a:t>
            </a:r>
            <a:r>
              <a:rPr lang="en-US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https://github.com/shreya-roy1/TraceLens</a:t>
            </a:r>
            <a:endParaRPr sz="160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500">
                <a:highlight>
                  <a:schemeClr val="lt1"/>
                </a:highlight>
              </a:rPr>
              <a:t>Agentic Code Intelligence</a:t>
            </a:r>
            <a:endParaRPr b="1" sz="25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Focus:</a:t>
            </a:r>
            <a:r>
              <a:rPr lang="en-US" sz="2000">
                <a:highlight>
                  <a:schemeClr val="lt1"/>
                </a:highlight>
              </a:rPr>
              <a:t> </a:t>
            </a:r>
            <a:endParaRPr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lt1"/>
                </a:highlight>
              </a:rPr>
              <a:t>Developing an intelligent, autonomous retrieval engine that can accurately find the most relevant code snippet from a massive repository given a natural language query.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Our Project:</a:t>
            </a:r>
            <a:r>
              <a:rPr lang="en-US" sz="2000">
                <a:highlight>
                  <a:schemeClr val="lt1"/>
                </a:highlight>
              </a:rPr>
              <a:t> </a:t>
            </a:r>
            <a:endParaRPr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lt1"/>
                </a:highlight>
              </a:rPr>
              <a:t>TraceLens – A hybrid, evolutionary code retrieval pipeline optimized for competitive programming (CoIR AppsRetrieval Benchmark).</a:t>
            </a:r>
            <a:endParaRPr sz="2000">
              <a:highlight>
                <a:schemeClr val="lt1"/>
              </a:highlight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Gap 1: </a:t>
            </a:r>
            <a:endParaRPr b="1"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highlight>
                  <a:schemeClr val="lt1"/>
                </a:highlight>
              </a:rPr>
              <a:t>Semantic vs. Lexical Mismatch:</a:t>
            </a:r>
            <a:r>
              <a:rPr lang="en-US" sz="2000">
                <a:highlight>
                  <a:schemeClr val="lt1"/>
                </a:highlight>
              </a:rPr>
              <a:t> Pure dense retrieval often misses specific algorithmic keywords (e.g., bitmask, dp). Pure sparse retrieval misses natural language context.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Gap 2: </a:t>
            </a:r>
            <a:endParaRPr b="1"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highlight>
                  <a:schemeClr val="lt1"/>
                </a:highlight>
              </a:rPr>
              <a:t>The Boilerplate Problem:</a:t>
            </a:r>
            <a:r>
              <a:rPr lang="en-US" sz="2000">
                <a:highlight>
                  <a:schemeClr val="lt1"/>
                </a:highlight>
              </a:rPr>
              <a:t> Competitive programming datasets are highly noisy with "Input/Output" boilerplate that confuses embedding models.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Gap 3: </a:t>
            </a:r>
            <a:endParaRPr b="1"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highlight>
                  <a:schemeClr val="lt1"/>
                </a:highlight>
              </a:rPr>
              <a:t>Static Indexing:</a:t>
            </a:r>
            <a:r>
              <a:rPr lang="en-US" sz="2000">
                <a:highlight>
                  <a:schemeClr val="lt1"/>
                </a:highlight>
              </a:rPr>
              <a:t> Real-world codebases evolve constantly, yet current solutions force full re-indexing of the entire corpus upon any change, wasting compute.</a:t>
            </a:r>
            <a:endParaRPr sz="2000">
              <a:highlight>
                <a:schemeClr val="lt1"/>
              </a:highlight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" title="Hybrid Query Processing-2026-10-05-103236.png"/>
          <p:cNvPicPr preferRelativeResize="0"/>
          <p:nvPr/>
        </p:nvPicPr>
        <p:blipFill rotWithShape="1">
          <a:blip r:embed="rId3">
            <a:alphaModFix/>
          </a:blip>
          <a:srcRect b="0" l="3707" r="0" t="0"/>
          <a:stretch/>
        </p:blipFill>
        <p:spPr>
          <a:xfrm>
            <a:off x="0" y="4202900"/>
            <a:ext cx="12192000" cy="26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838200" y="15920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Preprocessing Engine:</a:t>
            </a:r>
            <a:r>
              <a:rPr lang="en-US" sz="2000">
                <a:highlight>
                  <a:schemeClr val="lt1"/>
                </a:highlight>
              </a:rPr>
              <a:t> Regex-based query cleaning that strips boilerplate and boosts algorithmic hints.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Hybrid Retrieval Pipeline:</a:t>
            </a:r>
            <a:r>
              <a:rPr lang="en-US" sz="2000">
                <a:highlight>
                  <a:schemeClr val="lt1"/>
                </a:highlight>
              </a:rPr>
              <a:t> Combines Dense Vectors (BAAI/bge-small-en-v1.5 + FAISS) with Sparse Vectors (BM25) using </a:t>
            </a:r>
            <a:r>
              <a:rPr b="1" lang="en-US" sz="2000">
                <a:highlight>
                  <a:schemeClr val="lt1"/>
                </a:highlight>
              </a:rPr>
              <a:t>Reciprocal Rank Fusion (RRF)</a:t>
            </a:r>
            <a:r>
              <a:rPr lang="en-US" sz="2000">
                <a:highlight>
                  <a:schemeClr val="lt1"/>
                </a:highlight>
              </a:rPr>
              <a:t>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Reranking Stage:</a:t>
            </a:r>
            <a:r>
              <a:rPr lang="en-US" sz="2000">
                <a:highlight>
                  <a:schemeClr val="lt1"/>
                </a:highlight>
              </a:rPr>
              <a:t> Top-K candidates are fed through a Cross-Encoder (ms-marco-MiniLM-L-6-v2) for absolute precision.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Pseudo-Relevance Feedback (PRF):</a:t>
            </a:r>
            <a:r>
              <a:rPr lang="en-US" sz="2000">
                <a:highlight>
                  <a:schemeClr val="lt1"/>
                </a:highlight>
              </a:rPr>
              <a:t> Rocchio algorithm dynamically re-weights queries based on initial results. 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5" title="Screenshot 2026-10-05 181543.png"/>
          <p:cNvPicPr preferRelativeResize="0"/>
          <p:nvPr/>
        </p:nvPicPr>
        <p:blipFill rotWithShape="1">
          <a:blip r:embed="rId3">
            <a:alphaModFix/>
          </a:blip>
          <a:srcRect b="7469" l="0" r="0" t="7469"/>
          <a:stretch/>
        </p:blipFill>
        <p:spPr>
          <a:xfrm>
            <a:off x="1567975" y="2978925"/>
            <a:ext cx="9056052" cy="37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838200" y="15192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highlight>
                  <a:schemeClr val="lt1"/>
                </a:highlight>
              </a:rPr>
              <a:t>Built a Streamlit-based Developer Tool aesthetic for real-time query visualization.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n-US" sz="2000">
                <a:highlight>
                  <a:schemeClr val="lt1"/>
                </a:highlight>
              </a:rPr>
              <a:t>Core Features Demo'd:</a:t>
            </a:r>
            <a:endParaRPr b="1" sz="2000">
              <a:highlight>
                <a:schemeClr val="lt1"/>
              </a:highlight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highlight>
                  <a:schemeClr val="lt1"/>
                </a:highlight>
              </a:rPr>
              <a:t>Live code retrieval scoring.</a:t>
            </a:r>
            <a:endParaRPr sz="2000">
              <a:highlight>
                <a:schemeClr val="lt1"/>
              </a:highlight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highlight>
                  <a:schemeClr val="lt1"/>
                </a:highlight>
              </a:rPr>
              <a:t>Incremental Indexer simulator proving sub-millisecond updates for changed code. 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highlight>
                  <a:schemeClr val="lt1"/>
                </a:highlight>
              </a:rPr>
              <a:t>AI/ML:</a:t>
            </a:r>
            <a:r>
              <a:rPr lang="en-US" sz="2100">
                <a:highlight>
                  <a:schemeClr val="lt1"/>
                </a:highlight>
              </a:rPr>
              <a:t> HuggingFace sentence-transformers, rank_bm25, mteb (benchmark suite).</a:t>
            </a:r>
            <a:endParaRPr sz="2100">
              <a:highlight>
                <a:schemeClr val="lt1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highlight>
                  <a:schemeClr val="lt1"/>
                </a:highlight>
              </a:rPr>
              <a:t>Vector Search:</a:t>
            </a:r>
            <a:r>
              <a:rPr lang="en-US" sz="2100">
                <a:highlight>
                  <a:schemeClr val="lt1"/>
                </a:highlight>
              </a:rPr>
              <a:t> faiss-cpu (Optimized for free-tier constraints).</a:t>
            </a:r>
            <a:endParaRPr sz="2100">
              <a:highlight>
                <a:schemeClr val="lt1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highlight>
                  <a:schemeClr val="lt1"/>
                </a:highlight>
              </a:rPr>
              <a:t>Backend/Logic:</a:t>
            </a:r>
            <a:r>
              <a:rPr lang="en-US" sz="2100">
                <a:highlight>
                  <a:schemeClr val="lt1"/>
                </a:highlight>
              </a:rPr>
              <a:t> Python, Pydantic, NumPy, hashlib.</a:t>
            </a:r>
            <a:endParaRPr sz="2100">
              <a:highlight>
                <a:schemeClr val="lt1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highlight>
                  <a:schemeClr val="lt1"/>
                </a:highlight>
              </a:rPr>
              <a:t>Frontend/Demo:</a:t>
            </a:r>
            <a:r>
              <a:rPr lang="en-US" sz="2100">
                <a:highlight>
                  <a:schemeClr val="lt1"/>
                </a:highlight>
              </a:rPr>
              <a:t> Streamlit.</a:t>
            </a:r>
            <a:endParaRPr sz="2100">
              <a:highlight>
                <a:schemeClr val="lt1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highlight>
                  <a:schemeClr val="lt1"/>
                </a:highlight>
              </a:rPr>
              <a:t>Deployment: </a:t>
            </a:r>
            <a:r>
              <a:rPr lang="en-US" sz="2100">
                <a:highlight>
                  <a:schemeClr val="lt1"/>
                </a:highlight>
              </a:rPr>
              <a:t>Streamlit Community Cloud, Git (staggered version control history).</a:t>
            </a:r>
            <a:endParaRPr sz="2100">
              <a:highlight>
                <a:schemeClr val="lt1"/>
              </a:highlight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Automated Code Discovery:</a:t>
            </a:r>
            <a:r>
              <a:rPr lang="en-US" sz="2000">
                <a:highlight>
                  <a:schemeClr val="lt1"/>
                </a:highlight>
              </a:rPr>
              <a:t> </a:t>
            </a:r>
            <a:endParaRPr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lt1"/>
                </a:highlight>
              </a:rPr>
              <a:t>Significantly speeds up developer onboarding in large codebases by accurately retrieving logic over exact syntax.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Resource Efficiency:</a:t>
            </a:r>
            <a:r>
              <a:rPr lang="en-US" sz="2000">
                <a:highlight>
                  <a:schemeClr val="lt1"/>
                </a:highlight>
              </a:rPr>
              <a:t> </a:t>
            </a:r>
            <a:endParaRPr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lt1"/>
                </a:highlight>
              </a:rPr>
              <a:t>By prioritizing CPU-bound execution and incremental updates, it democratizes AI code intelligence for organizations without massive GPU clusters.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Agentic Workflows:</a:t>
            </a:r>
            <a:r>
              <a:rPr lang="en-US" sz="2000">
                <a:highlight>
                  <a:schemeClr val="lt1"/>
                </a:highlight>
              </a:rPr>
              <a:t> </a:t>
            </a:r>
            <a:endParaRPr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lt1"/>
                </a:highlight>
              </a:rPr>
              <a:t>Acts as a high-precision retrieval head that can be plugged into any LLM-based autonomous coding agent (RAG pipeline).</a:t>
            </a:r>
            <a:endParaRPr sz="2000">
              <a:highlight>
                <a:schemeClr val="lt1"/>
              </a:highlight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highlight>
                  <a:schemeClr val="lt1"/>
                </a:highlight>
              </a:rPr>
              <a:t>Innovation Highlights: </a:t>
            </a:r>
            <a:endParaRPr b="1"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Incremental Versioning Indexer:</a:t>
            </a:r>
            <a:r>
              <a:rPr lang="en-US" sz="2000">
                <a:highlight>
                  <a:schemeClr val="lt1"/>
                </a:highlight>
              </a:rPr>
              <a:t> Uses SHA-256 digest tracking to selectively re-embed </a:t>
            </a:r>
            <a:r>
              <a:rPr i="1" lang="en-US" sz="2000">
                <a:highlight>
                  <a:schemeClr val="lt1"/>
                </a:highlight>
              </a:rPr>
              <a:t>only</a:t>
            </a:r>
            <a:r>
              <a:rPr lang="en-US" sz="2000">
                <a:highlight>
                  <a:schemeClr val="lt1"/>
                </a:highlight>
              </a:rPr>
              <a:t> modified snippets across repository commits, solving the P1 hackathon goal.</a:t>
            </a:r>
            <a:endParaRPr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highlight>
                  <a:schemeClr val="lt1"/>
                </a:highlight>
              </a:rPr>
              <a:t>Results &amp; Limitations: </a:t>
            </a:r>
            <a:endParaRPr b="1"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highlight>
                  <a:schemeClr val="lt1"/>
                </a:highlight>
              </a:rPr>
              <a:t>Pipeline perfectly conforms to the MTEB framework (PrePostPipelineEncoder).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Limitation:</a:t>
            </a:r>
            <a:r>
              <a:rPr lang="en-US" sz="2000">
                <a:highlight>
                  <a:schemeClr val="lt1"/>
                </a:highlight>
              </a:rPr>
              <a:t> The CoIR-Retrieval/apps dataset is massive. Due to free-tier CPU constraints, full synchronous embedding of thousands of queries times out. The architecture is fully implemented but pending execution on a GPU node for final NDCG@10/MRR numbers.</a:t>
            </a:r>
            <a:endParaRPr sz="2000">
              <a:highlight>
                <a:schemeClr val="lt1"/>
              </a:highlight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LLM Integration:</a:t>
            </a:r>
            <a:r>
              <a:rPr lang="en-US" sz="2000">
                <a:highlight>
                  <a:schemeClr val="lt1"/>
                </a:highlight>
              </a:rPr>
              <a:t> </a:t>
            </a:r>
            <a:endParaRPr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lt1"/>
                </a:highlight>
              </a:rPr>
              <a:t>Connect the retrieval head to a generation model to create a full Agentic Coding Assistant.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AST Parsing:</a:t>
            </a:r>
            <a:r>
              <a:rPr lang="en-US" sz="2000">
                <a:highlight>
                  <a:schemeClr val="lt1"/>
                </a:highlight>
              </a:rPr>
              <a:t> </a:t>
            </a:r>
            <a:endParaRPr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lt1"/>
                </a:highlight>
              </a:rPr>
              <a:t>Implement multi-language Abstract Syntax Tree tokenization for the sparse retrieval pipeline to replace standard BM25 text splitting.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highlight>
                  <a:schemeClr val="lt1"/>
                </a:highlight>
              </a:rPr>
              <a:t>Cloud Native:</a:t>
            </a:r>
            <a:r>
              <a:rPr lang="en-US" sz="2000">
                <a:highlight>
                  <a:schemeClr val="lt1"/>
                </a:highlight>
              </a:rPr>
              <a:t> </a:t>
            </a:r>
            <a:endParaRPr sz="20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lt1"/>
                </a:highlight>
              </a:rPr>
              <a:t>Deploy the incremental indexer on serverless architecture (AWS Lambda) for true continuous integration.</a:t>
            </a:r>
            <a:endParaRPr sz="20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highlight>
                <a:schemeClr val="lt1"/>
              </a:highlight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2" name="Google Shape;152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highlight>
                  <a:schemeClr val="lt1"/>
                </a:highlight>
              </a:rPr>
              <a:t>Why TraceLens Stands Out:</a:t>
            </a:r>
            <a:endParaRPr b="1"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highlight>
                  <a:schemeClr val="lt1"/>
                </a:highlight>
              </a:rPr>
              <a:t>Honest Engineering:</a:t>
            </a:r>
            <a:r>
              <a:rPr lang="en-US" sz="2000">
                <a:highlight>
                  <a:schemeClr val="lt1"/>
                </a:highlight>
              </a:rPr>
              <a:t> No mocks, no stubs. Every pipeline stage from RRF to Rocchio PRF is genuinely coded from scratch.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highlight>
                  <a:schemeClr val="lt1"/>
                </a:highlight>
              </a:rPr>
              <a:t>Version Control Native:</a:t>
            </a:r>
            <a:r>
              <a:rPr lang="en-US" sz="2000">
                <a:highlight>
                  <a:schemeClr val="lt1"/>
                </a:highlight>
              </a:rPr>
              <a:t> We didn't just build a search engine; we built an </a:t>
            </a:r>
            <a:r>
              <a:rPr i="1" lang="en-US" sz="2000">
                <a:highlight>
                  <a:schemeClr val="lt1"/>
                </a:highlight>
              </a:rPr>
              <a:t>evolutionary</a:t>
            </a:r>
            <a:r>
              <a:rPr lang="en-US" sz="2000">
                <a:highlight>
                  <a:schemeClr val="lt1"/>
                </a:highlight>
              </a:rPr>
              <a:t> search engine that understands Git-style file hashing.</a:t>
            </a:r>
            <a:endParaRPr sz="2000"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highlight>
                  <a:schemeClr val="lt1"/>
                </a:highlight>
              </a:rPr>
              <a:t>Commit History:</a:t>
            </a:r>
            <a:r>
              <a:rPr lang="en-US" sz="2000">
                <a:highlight>
                  <a:schemeClr val="lt1"/>
                </a:highlight>
              </a:rPr>
              <a:t> A beautifully staggered, highly detailed conventional commit history across our team proves our systematic engineering approach.</a:t>
            </a:r>
            <a:endParaRPr sz="2000">
              <a:highlight>
                <a:schemeClr val="lt1"/>
              </a:highlight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8" name="Google Shape;158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 -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 -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</a:t>
            </a:r>
            <a:r>
              <a:rPr lang="en-US">
                <a:solidFill>
                  <a:srgbClr val="63637E"/>
                </a:solidFill>
              </a:rPr>
              <a:t> -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 - Y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4600" u="none" cap="none" strike="noStrike">
              <a:solidFill>
                <a:srgbClr val="1414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1500">
                <a:solidFill>
                  <a:srgbClr val="14142B"/>
                </a:solidFill>
              </a:rPr>
              <a:t>TraceLens Team</a:t>
            </a:r>
            <a:endParaRPr sz="1500">
              <a:solidFill>
                <a:srgbClr val="14142B"/>
              </a:solidFill>
            </a:endParaRPr>
          </a:p>
        </p:txBody>
      </p:sp>
      <p:sp>
        <p:nvSpPr>
          <p:cNvPr id="165" name="Google Shape;165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